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5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4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8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9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1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69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6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83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0258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2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35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8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1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7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2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6862" y="2371857"/>
            <a:ext cx="4812890" cy="892551"/>
          </a:xfrm>
        </p:spPr>
        <p:txBody>
          <a:bodyPr>
            <a:normAutofit/>
          </a:bodyPr>
          <a:lstStyle/>
          <a:p>
            <a:pPr algn="just">
              <a:defRPr sz="4800" b="1">
                <a:solidFill>
                  <a:srgbClr val="2E86C1"/>
                </a:solidFill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Profit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3307" y="3867671"/>
            <a:ext cx="3898491" cy="690444"/>
          </a:xfrm>
        </p:spPr>
        <p:txBody>
          <a:bodyPr>
            <a:normAutofit fontScale="92500"/>
          </a:bodyPr>
          <a:lstStyle/>
          <a:p>
            <a:pPr>
              <a:defRPr sz="2000"/>
            </a:pPr>
            <a:r>
              <a:rPr dirty="0"/>
              <a:t>Project ID: PTID CDA_OCT_25-822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33907"/>
            <a:ext cx="7773338" cy="1301701"/>
          </a:xfrm>
        </p:spPr>
        <p:txBody>
          <a:bodyPr/>
          <a:lstStyle/>
          <a:p>
            <a:r>
              <a:rPr sz="4000" b="1" dirty="0">
                <a:solidFill>
                  <a:schemeClr val="accent3"/>
                </a:solidFill>
              </a:rPr>
              <a:t>P</a:t>
            </a:r>
            <a:r>
              <a:rPr lang="en-US" sz="4000" b="1" dirty="0">
                <a:solidFill>
                  <a:schemeClr val="accent3"/>
                </a:solidFill>
              </a:rPr>
              <a:t>ROJECT</a:t>
            </a:r>
            <a:r>
              <a:rPr sz="4000" b="1" dirty="0">
                <a:solidFill>
                  <a:schemeClr val="accent3"/>
                </a:solidFill>
              </a:rPr>
              <a:t> O</a:t>
            </a:r>
            <a:r>
              <a:rPr lang="en-US" sz="4000" b="1" dirty="0">
                <a:solidFill>
                  <a:schemeClr val="accent3"/>
                </a:solidFill>
              </a:rPr>
              <a:t>BJECTIVE</a:t>
            </a:r>
            <a:endParaRPr sz="4000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73" y="2040979"/>
            <a:ext cx="6711654" cy="4149509"/>
          </a:xfrm>
        </p:spPr>
        <p:txBody>
          <a:bodyPr>
            <a:normAutofit/>
          </a:bodyPr>
          <a:lstStyle/>
          <a:p>
            <a:pPr algn="just"/>
            <a:r>
              <a:rPr dirty="0"/>
              <a:t>The objective of this analysis is to study the impact of R&amp;D, Administration, and Marketing expenditure on company profits using Multiple Linear Regression.</a:t>
            </a:r>
            <a:endParaRPr lang="en-IN" dirty="0"/>
          </a:p>
          <a:p>
            <a:pPr algn="just"/>
            <a:r>
              <a:rPr lang="en-US" dirty="0"/>
              <a:t>Briefly describe the dataset used (columns, sample size, data source).</a:t>
            </a:r>
          </a:p>
          <a:p>
            <a:pPr algn="just"/>
            <a:r>
              <a:rPr lang="en-US" dirty="0"/>
              <a:t>Show summary statistics (mean, min, max) for R&amp;D, Marketing, Administration, and Profit.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503" y="91440"/>
            <a:ext cx="5392994" cy="1239820"/>
          </a:xfrm>
        </p:spPr>
        <p:txBody>
          <a:bodyPr/>
          <a:lstStyle/>
          <a:p>
            <a:r>
              <a:rPr lang="en-US" sz="4000" b="1" dirty="0">
                <a:solidFill>
                  <a:schemeClr val="accent3"/>
                </a:solidFill>
              </a:rPr>
              <a:t>METHODOLOGY</a:t>
            </a:r>
            <a:endParaRPr sz="4000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73" y="1920240"/>
            <a:ext cx="6711654" cy="3606500"/>
          </a:xfrm>
        </p:spPr>
        <p:txBody>
          <a:bodyPr>
            <a:normAutofit/>
          </a:bodyPr>
          <a:lstStyle/>
          <a:p>
            <a:r>
              <a:rPr sz="2000" dirty="0"/>
              <a:t>1. Data loaded and prepared in Excel.</a:t>
            </a:r>
          </a:p>
          <a:p>
            <a:r>
              <a:rPr sz="2000" dirty="0"/>
              <a:t>2. Multiple Linear Regression applied using Data Analysis Tool</a:t>
            </a:r>
            <a:r>
              <a:rPr lang="en-US" sz="2000" dirty="0"/>
              <a:t>-</a:t>
            </a:r>
            <a:r>
              <a:rPr sz="2000" dirty="0"/>
              <a:t>pack</a:t>
            </a:r>
            <a:r>
              <a:rPr lang="en-US" sz="2000" dirty="0"/>
              <a:t>.</a:t>
            </a:r>
            <a:endParaRPr sz="2000" dirty="0"/>
          </a:p>
          <a:p>
            <a:r>
              <a:rPr sz="2000" dirty="0"/>
              <a:t>3. Regression coefficients and R² values interpreted.</a:t>
            </a:r>
          </a:p>
          <a:p>
            <a:r>
              <a:rPr sz="2000" dirty="0"/>
              <a:t>4. Predicted profits calculated using regression equation.</a:t>
            </a:r>
          </a:p>
          <a:p>
            <a:r>
              <a:rPr sz="2000" dirty="0"/>
              <a:t>5. Visuals created to show relationships and model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312" y="118873"/>
            <a:ext cx="6356555" cy="1252727"/>
          </a:xfrm>
        </p:spPr>
        <p:txBody>
          <a:bodyPr/>
          <a:lstStyle/>
          <a:p>
            <a:r>
              <a:rPr sz="4000" b="1" dirty="0">
                <a:solidFill>
                  <a:schemeClr val="accent3"/>
                </a:solidFill>
              </a:rPr>
              <a:t>R</a:t>
            </a:r>
            <a:r>
              <a:rPr lang="en-US" sz="4000" b="1" dirty="0">
                <a:solidFill>
                  <a:schemeClr val="accent3"/>
                </a:solidFill>
              </a:rPr>
              <a:t>EGRESSION</a:t>
            </a:r>
            <a:r>
              <a:rPr sz="4000" b="1" dirty="0">
                <a:solidFill>
                  <a:schemeClr val="accent3"/>
                </a:solidFill>
              </a:rPr>
              <a:t> </a:t>
            </a:r>
            <a:r>
              <a:rPr lang="en-IN" sz="4000" b="1" dirty="0">
                <a:solidFill>
                  <a:schemeClr val="accent3"/>
                </a:solidFill>
              </a:rPr>
              <a:t>SUMMARY</a:t>
            </a:r>
            <a:endParaRPr sz="4000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430" y="1610474"/>
            <a:ext cx="6711654" cy="4195481"/>
          </a:xfrm>
        </p:spPr>
        <p:txBody>
          <a:bodyPr/>
          <a:lstStyle/>
          <a:p>
            <a:r>
              <a:rPr dirty="0"/>
              <a:t>R² = 0.9507 (indicating 95% of profit variation </a:t>
            </a:r>
            <a:r>
              <a:rPr lang="en-US" dirty="0"/>
              <a:t>   </a:t>
            </a:r>
            <a:r>
              <a:rPr dirty="0"/>
              <a:t>explained by the model)</a:t>
            </a:r>
          </a:p>
          <a:p>
            <a:r>
              <a:rPr dirty="0"/>
              <a:t>Key Influencing Factors: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	</a:t>
            </a:r>
            <a:r>
              <a:rPr dirty="0"/>
              <a:t>R&amp;D Spend: Strong positive impact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Administration: Negligible or negative impact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Marketing Spend: Moderate positive impact</a:t>
            </a:r>
          </a:p>
          <a:p>
            <a:r>
              <a:rPr dirty="0"/>
              <a:t>Model is statistically significant 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    </a:t>
            </a:r>
            <a:r>
              <a:rPr dirty="0"/>
              <a:t>(Significance F ≈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41" y="1"/>
            <a:ext cx="7902206" cy="1143000"/>
          </a:xfrm>
        </p:spPr>
        <p:txBody>
          <a:bodyPr/>
          <a:lstStyle/>
          <a:p>
            <a:r>
              <a:rPr lang="en-IN" sz="4000" b="1" dirty="0">
                <a:solidFill>
                  <a:schemeClr val="accent3"/>
                </a:solidFill>
              </a:rPr>
              <a:t>R&amp;D v/s PROFIT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953" y="1143001"/>
            <a:ext cx="8138159" cy="31821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Observation:</a:t>
            </a:r>
          </a:p>
          <a:p>
            <a:pPr algn="just"/>
            <a:r>
              <a:rPr lang="en-US" sz="2000" dirty="0"/>
              <a:t>The chart shows that both R&amp;D spend and profit decrease over time, but profit remains consistently higher than R&amp;D spend throughout the period.</a:t>
            </a:r>
          </a:p>
          <a:p>
            <a:pPr algn="just"/>
            <a:r>
              <a:rPr lang="en-US" sz="2000" dirty="0"/>
              <a:t>This suggests that while R&amp;D investment is declining, the company continues to maintain a positive profit margin during the observed period.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76E47-3C08-E230-7EDF-755D001F3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283" y="3657598"/>
            <a:ext cx="4422709" cy="3072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935" y="82282"/>
            <a:ext cx="7086130" cy="1252742"/>
          </a:xfrm>
        </p:spPr>
        <p:txBody>
          <a:bodyPr/>
          <a:lstStyle/>
          <a:p>
            <a:r>
              <a:rPr lang="en-IN" sz="4000" b="1" dirty="0">
                <a:solidFill>
                  <a:schemeClr val="accent3"/>
                </a:solidFill>
              </a:rPr>
              <a:t>Marketing Spend v/s Profit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544" y="1335024"/>
            <a:ext cx="8053827" cy="180885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000" dirty="0"/>
              <a:t>Observation:</a:t>
            </a:r>
            <a:endParaRPr lang="en-US" sz="2000" dirty="0"/>
          </a:p>
          <a:p>
            <a:pPr algn="just"/>
            <a:r>
              <a:rPr lang="en-US" sz="2000" dirty="0"/>
              <a:t>The chart suggests a strong positive correlation between marketing spend and predicted profit, as both values increase significantly from point 1 to point 2. </a:t>
            </a:r>
          </a:p>
          <a:p>
            <a:pPr algn="just"/>
            <a:r>
              <a:rPr lang="en-US" sz="2000" dirty="0"/>
              <a:t>This indicates that higher marketing investment is expected to generate substantially higher profits.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49E69-076D-DAE9-7923-93854B5610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56269" y="3793492"/>
            <a:ext cx="4787731" cy="29822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77" y="236654"/>
            <a:ext cx="8462645" cy="1400530"/>
          </a:xfrm>
        </p:spPr>
        <p:txBody>
          <a:bodyPr/>
          <a:lstStyle/>
          <a:p>
            <a:r>
              <a:rPr lang="en-IN" sz="4000" b="1" dirty="0">
                <a:solidFill>
                  <a:schemeClr val="accent3"/>
                </a:solidFill>
              </a:rPr>
              <a:t>Actual profit v/s Predicted Profit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3" y="1637184"/>
            <a:ext cx="8145632" cy="209854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O</a:t>
            </a:r>
            <a:r>
              <a:rPr dirty="0"/>
              <a:t>bservation:</a:t>
            </a:r>
            <a:endParaRPr lang="en-US" dirty="0"/>
          </a:p>
          <a:p>
            <a:pPr algn="just"/>
            <a:r>
              <a:rPr lang="en-US" dirty="0"/>
              <a:t>The chart compares actual profit to predicted profit. </a:t>
            </a:r>
          </a:p>
          <a:p>
            <a:pPr algn="just"/>
            <a:r>
              <a:rPr lang="en-US" dirty="0"/>
              <a:t>The wide range of Y-axis values suggests there is a significant variance between the predicted profit and the actual profit achieved, indicating that the prediction model may not be very accurate.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93406-0DC2-64A7-3533-558ED60D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43" y="3873908"/>
            <a:ext cx="5132457" cy="2868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918" y="180583"/>
            <a:ext cx="7055380" cy="1099577"/>
          </a:xfrm>
        </p:spPr>
        <p:txBody>
          <a:bodyPr/>
          <a:lstStyle/>
          <a:p>
            <a:r>
              <a:rPr lang="en-IN" sz="4000" b="1" dirty="0">
                <a:solidFill>
                  <a:schemeClr val="accent3"/>
                </a:solidFill>
              </a:rPr>
              <a:t>R&amp;D v/s Predicted Profit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197" y="1280160"/>
            <a:ext cx="7756153" cy="23523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000" dirty="0"/>
              <a:t>Observation:</a:t>
            </a:r>
            <a:endParaRPr lang="en-US" sz="2000" dirty="0"/>
          </a:p>
          <a:p>
            <a:pPr algn="just"/>
            <a:r>
              <a:rPr lang="en-US" sz="2000" dirty="0"/>
              <a:t>The chart shows a relationship between R&amp;D Spend and Predicted Profit for two data points.</a:t>
            </a:r>
          </a:p>
          <a:p>
            <a:pPr algn="just"/>
            <a:r>
              <a:rPr lang="en-US" sz="2000" dirty="0"/>
              <a:t>The predicted profit appears to increase significantly from point 1 to point 2, suggesting that higher R&amp;D spending is correlated with a higher expected profit.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D3B97-E4AE-CBBA-2581-8A70B0BE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3452" y="3968496"/>
            <a:ext cx="5020864" cy="28254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13" y="233794"/>
            <a:ext cx="7055380" cy="1400530"/>
          </a:xfrm>
        </p:spPr>
        <p:txBody>
          <a:bodyPr/>
          <a:lstStyle/>
          <a:p>
            <a:r>
              <a:rPr lang="en-IN" b="1" dirty="0">
                <a:solidFill>
                  <a:schemeClr val="accent3"/>
                </a:solidFill>
              </a:rPr>
              <a:t>PREDICTED PROFIT BY STATE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671" y="1544549"/>
            <a:ext cx="7951368" cy="20520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2000" dirty="0"/>
              <a:t>Observation:</a:t>
            </a:r>
            <a:endParaRPr lang="en-US" sz="2000" dirty="0"/>
          </a:p>
          <a:p>
            <a:pPr algn="just"/>
            <a:r>
              <a:rPr lang="en-US" sz="2000" dirty="0"/>
              <a:t>The wide and varied ranges on the Y-axis compared to the X-axis suggest that the actual profit values are highly scattered and do not align closely with the predicted profit. </a:t>
            </a:r>
          </a:p>
          <a:p>
            <a:pPr algn="just"/>
            <a:r>
              <a:rPr lang="en-US" sz="2000" dirty="0"/>
              <a:t>This indicates a poor model fit and low prediction accuracy.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17DED-2598-E2C0-0949-303831A88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13386" y="3825310"/>
            <a:ext cx="4888317" cy="29762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F79FA-A014-6038-F9EA-B90EF279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DF16BF-6C35-686A-3EC9-154686144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9144000" cy="647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6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800" y="157919"/>
            <a:ext cx="7636735" cy="1400530"/>
          </a:xfrm>
        </p:spPr>
        <p:txBody>
          <a:bodyPr/>
          <a:lstStyle/>
          <a:p>
            <a:r>
              <a:rPr lang="en-IN" sz="4000" b="1" dirty="0">
                <a:solidFill>
                  <a:schemeClr val="accent3"/>
                </a:solidFill>
              </a:rPr>
              <a:t>Key Insights &amp; Recommendations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68" y="1762592"/>
            <a:ext cx="6829597" cy="3332816"/>
          </a:xfrm>
        </p:spPr>
        <p:txBody>
          <a:bodyPr>
            <a:noAutofit/>
          </a:bodyPr>
          <a:lstStyle/>
          <a:p>
            <a:pPr algn="just"/>
            <a:r>
              <a:rPr dirty="0"/>
              <a:t> R&amp;D investment has the highest contribution to profit.</a:t>
            </a:r>
          </a:p>
          <a:p>
            <a:pPr algn="just"/>
            <a:r>
              <a:rPr dirty="0"/>
              <a:t> Administration costs show little influence.</a:t>
            </a:r>
          </a:p>
          <a:p>
            <a:pPr algn="just"/>
            <a:r>
              <a:rPr dirty="0"/>
              <a:t>Marketing spend supports profitability but less than R&amp;D.</a:t>
            </a:r>
          </a:p>
          <a:p>
            <a:pPr algn="just"/>
            <a:r>
              <a:rPr dirty="0"/>
              <a:t>Focus on optimizing R&amp;D and marketing budgets for maximum profit.</a:t>
            </a:r>
          </a:p>
          <a:p>
            <a:pPr algn="just"/>
            <a:r>
              <a:rPr dirty="0"/>
              <a:t>Maintain model tracking with updated data for continuous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297</TotalTime>
  <Words>510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Tw Cen MT</vt:lpstr>
      <vt:lpstr>Wingdings</vt:lpstr>
      <vt:lpstr>Droplet</vt:lpstr>
      <vt:lpstr>Profit Analysis</vt:lpstr>
      <vt:lpstr>PROJECT OBJECTIVE</vt:lpstr>
      <vt:lpstr>METHODOLOGY</vt:lpstr>
      <vt:lpstr>REGRESSION SUMMARY</vt:lpstr>
      <vt:lpstr>R&amp;D v/s PROFIT</vt:lpstr>
      <vt:lpstr>Marketing Spend v/s Profit</vt:lpstr>
      <vt:lpstr>Actual profit v/s Predicted Profit</vt:lpstr>
      <vt:lpstr>R&amp;D v/s Predicted Profit</vt:lpstr>
      <vt:lpstr>PREDICTED PROFIT BY STATE</vt:lpstr>
      <vt:lpstr>PowerPoint Presentation</vt:lpstr>
      <vt:lpstr>Key Insights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MADHUSUDHAN</dc:creator>
  <cp:keywords/>
  <dc:description>generated using python-pptx</dc:description>
  <cp:lastModifiedBy>A pradeep</cp:lastModifiedBy>
  <cp:revision>7</cp:revision>
  <dcterms:created xsi:type="dcterms:W3CDTF">2013-01-27T09:14:16Z</dcterms:created>
  <dcterms:modified xsi:type="dcterms:W3CDTF">2025-11-08T07:43:26Z</dcterms:modified>
  <cp:category/>
</cp:coreProperties>
</file>